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9" r:id="rId4"/>
    <p:sldId id="274" r:id="rId5"/>
    <p:sldId id="273" r:id="rId6"/>
    <p:sldId id="275" r:id="rId7"/>
    <p:sldId id="278" r:id="rId8"/>
    <p:sldId id="282" r:id="rId9"/>
    <p:sldId id="281" r:id="rId10"/>
    <p:sldId id="280" r:id="rId11"/>
    <p:sldId id="279" r:id="rId12"/>
    <p:sldId id="277" r:id="rId13"/>
    <p:sldId id="276" r:id="rId14"/>
    <p:sldId id="286" r:id="rId15"/>
    <p:sldId id="285" r:id="rId16"/>
    <p:sldId id="284" r:id="rId17"/>
    <p:sldId id="288" r:id="rId18"/>
    <p:sldId id="289" r:id="rId19"/>
    <p:sldId id="291" r:id="rId20"/>
    <p:sldId id="290" r:id="rId21"/>
    <p:sldId id="283" r:id="rId22"/>
    <p:sldId id="298" r:id="rId23"/>
    <p:sldId id="299" r:id="rId24"/>
    <p:sldId id="292" r:id="rId25"/>
    <p:sldId id="294" r:id="rId26"/>
    <p:sldId id="293" r:id="rId27"/>
    <p:sldId id="296" r:id="rId28"/>
    <p:sldId id="295" r:id="rId29"/>
    <p:sldId id="297" r:id="rId30"/>
    <p:sldId id="258" r:id="rId31"/>
    <p:sldId id="272" r:id="rId3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1D3A00"/>
    <a:srgbClr val="005856"/>
    <a:srgbClr val="003635"/>
    <a:srgbClr val="FF2549"/>
    <a:srgbClr val="9EFF29"/>
    <a:srgbClr val="C33A1F"/>
    <a:srgbClr val="D6370C"/>
    <a:srgbClr val="0000CC"/>
    <a:srgbClr val="FF8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7812" y="1585453"/>
            <a:ext cx="8067369" cy="159282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0441" y="3200401"/>
            <a:ext cx="8082115" cy="678426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rgbClr val="00206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078" y="165342"/>
            <a:ext cx="8259098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091381"/>
            <a:ext cx="8246070" cy="3770941"/>
          </a:xfrm>
        </p:spPr>
        <p:txBody>
          <a:bodyPr/>
          <a:lstStyle>
            <a:lvl1pPr algn="l">
              <a:defRPr sz="2800">
                <a:solidFill>
                  <a:srgbClr val="002060"/>
                </a:solidFill>
              </a:defRPr>
            </a:lvl1pPr>
            <a:lvl2pPr algn="l">
              <a:defRPr>
                <a:solidFill>
                  <a:srgbClr val="002060"/>
                </a:solidFill>
              </a:defRPr>
            </a:lvl2pPr>
            <a:lvl3pPr algn="l">
              <a:defRPr>
                <a:solidFill>
                  <a:srgbClr val="002060"/>
                </a:solidFill>
              </a:defRPr>
            </a:lvl3pPr>
            <a:lvl4pPr algn="l">
              <a:defRPr>
                <a:solidFill>
                  <a:srgbClr val="002060"/>
                </a:solidFill>
              </a:defRPr>
            </a:lvl4pPr>
            <a:lvl5pPr algn="l"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18" y="502400"/>
            <a:ext cx="6336730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254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444" y="1236429"/>
            <a:ext cx="6358060" cy="3511061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943" y="124163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15411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1987808"/>
            <a:ext cx="4040188" cy="2276294"/>
          </a:xfrm>
        </p:spPr>
        <p:txBody>
          <a:bodyPr/>
          <a:lstStyle>
            <a:lvl1pPr algn="ctr">
              <a:defRPr sz="2400">
                <a:solidFill>
                  <a:srgbClr val="002060"/>
                </a:solidFill>
              </a:defRPr>
            </a:lvl1pPr>
            <a:lvl2pPr algn="ctr">
              <a:defRPr sz="2000">
                <a:solidFill>
                  <a:srgbClr val="002060"/>
                </a:solidFill>
              </a:defRPr>
            </a:lvl2pPr>
            <a:lvl3pPr algn="ctr">
              <a:defRPr sz="1800">
                <a:solidFill>
                  <a:srgbClr val="002060"/>
                </a:solidFill>
              </a:defRPr>
            </a:lvl3pPr>
            <a:lvl4pPr algn="ctr">
              <a:defRPr sz="1600">
                <a:solidFill>
                  <a:srgbClr val="002060"/>
                </a:solidFill>
              </a:defRPr>
            </a:lvl4pPr>
            <a:lvl5pPr algn="ctr"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15411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87808"/>
            <a:ext cx="4041775" cy="2276294"/>
          </a:xfrm>
        </p:spPr>
        <p:txBody>
          <a:bodyPr/>
          <a:lstStyle>
            <a:lvl1pPr algn="ctr">
              <a:defRPr sz="2400">
                <a:solidFill>
                  <a:srgbClr val="002060"/>
                </a:solidFill>
              </a:defRPr>
            </a:lvl1pPr>
            <a:lvl2pPr algn="ctr">
              <a:defRPr sz="2000">
                <a:solidFill>
                  <a:srgbClr val="002060"/>
                </a:solidFill>
              </a:defRPr>
            </a:lvl2pPr>
            <a:lvl3pPr algn="ctr">
              <a:defRPr sz="1800">
                <a:solidFill>
                  <a:srgbClr val="002060"/>
                </a:solidFill>
              </a:defRPr>
            </a:lvl3pPr>
            <a:lvl4pPr algn="ctr">
              <a:defRPr sz="1600">
                <a:solidFill>
                  <a:srgbClr val="002060"/>
                </a:solidFill>
              </a:defRPr>
            </a:lvl4pPr>
            <a:lvl5pPr algn="ctr">
              <a:defRPr sz="1600">
                <a:solidFill>
                  <a:srgbClr val="00206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enterprisedb.com/downloads/postgres-postgresql-downloads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hoenixnap.com/kb/what-is-a-database-server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phoenixnap.com/kb/postgres-create-database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549" y="1808919"/>
            <a:ext cx="7868580" cy="3710607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</a:rPr>
              <a:t>Sanjivani collage of engineering </a:t>
            </a:r>
            <a:r>
              <a:rPr lang="en-US" sz="3100" dirty="0" err="1">
                <a:latin typeface="Cambria" panose="02040503050406030204" pitchFamily="18" charset="0"/>
                <a:ea typeface="Cambria" panose="02040503050406030204" pitchFamily="18" charset="0"/>
              </a:rPr>
              <a:t>Kopargaon</a:t>
            </a:r>
            <a:br>
              <a:rPr lang="en-US" sz="31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computer Engineering</a:t>
            </a:r>
            <a:br>
              <a:rPr lang="en-US" sz="3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1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Subject: Database management system</a:t>
            </a:r>
            <a:b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dirty="0">
                <a:latin typeface="Bahnschrift SemiBold" panose="020B0502040204020203" pitchFamily="34" charset="0"/>
              </a:rPr>
              <a:t>Topic :PostgreSQL</a:t>
            </a:r>
            <a:br>
              <a:rPr lang="en-US" sz="3600" dirty="0">
                <a:latin typeface="Bahnschrift SemiBold" panose="020B0502040204020203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  <a:r>
              <a:rPr lang="en-US" sz="3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Dr.P.Saiprasad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000" dirty="0">
                <a:solidFill>
                  <a:schemeClr val="bg1"/>
                </a:solidFill>
                <a:latin typeface="Bahnschrift SemiBold" panose="020B0502040204020203" pitchFamily="34" charset="0"/>
              </a:rPr>
              <a:t>Group members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Bahnschrift SemiBold" panose="020B0502040204020203" pitchFamily="34" charset="0"/>
              </a:rPr>
              <a:t>:  </a:t>
            </a:r>
            <a:r>
              <a:rPr lang="en-US" sz="2000" dirty="0" err="1">
                <a:solidFill>
                  <a:srgbClr val="FFC000"/>
                </a:solidFill>
                <a:latin typeface="Bahnschrift SemiBold" panose="020B0502040204020203" pitchFamily="34" charset="0"/>
              </a:rPr>
              <a:t>Jangam</a:t>
            </a:r>
            <a:r>
              <a:rPr lang="en-US" sz="2000" dirty="0">
                <a:solidFill>
                  <a:srgbClr val="FFC000"/>
                </a:solidFill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Bahnschrift SemiBold" panose="020B0502040204020203" pitchFamily="34" charset="0"/>
              </a:rPr>
              <a:t>Janhavi</a:t>
            </a:r>
            <a:r>
              <a:rPr lang="en-US" sz="2000" dirty="0">
                <a:solidFill>
                  <a:srgbClr val="FFC000"/>
                </a:solidFill>
                <a:latin typeface="Bahnschrift SemiBold" panose="020B0502040204020203" pitchFamily="34" charset="0"/>
              </a:rPr>
              <a:t> </a:t>
            </a:r>
            <a:r>
              <a:rPr lang="en-US" sz="2000">
                <a:solidFill>
                  <a:srgbClr val="FFC000"/>
                </a:solidFill>
                <a:latin typeface="Bahnschrift SemiBold" panose="020B0502040204020203" pitchFamily="34" charset="0"/>
              </a:rPr>
              <a:t>[147]</a:t>
            </a:r>
            <a:br>
              <a:rPr lang="en-US" sz="2000">
                <a:solidFill>
                  <a:srgbClr val="FFC000"/>
                </a:solidFill>
                <a:latin typeface="Bahnschrift SemiBold" panose="020B0502040204020203" pitchFamily="34" charset="0"/>
              </a:rPr>
            </a:br>
            <a:r>
              <a:rPr lang="en-US" sz="2000">
                <a:solidFill>
                  <a:srgbClr val="FFC000"/>
                </a:solidFill>
                <a:latin typeface="Bahnschrift SemiBold" panose="020B0502040204020203" pitchFamily="34" charset="0"/>
              </a:rPr>
              <a:t>						Mukta Puri [150]</a:t>
            </a:r>
            <a:br>
              <a:rPr lang="en-US" sz="2000" dirty="0">
                <a:solidFill>
                  <a:srgbClr val="FFC000"/>
                </a:solidFill>
                <a:latin typeface="Bahnschrift SemiBold" panose="020B0502040204020203" pitchFamily="34" charset="0"/>
              </a:rPr>
            </a:br>
            <a:r>
              <a:rPr lang="en-US" sz="2000">
                <a:solidFill>
                  <a:srgbClr val="FFC000"/>
                </a:solidFill>
                <a:latin typeface="Bahnschrift SemiBold" panose="020B0502040204020203" pitchFamily="34" charset="0"/>
              </a:rPr>
              <a:t>        						Mali </a:t>
            </a:r>
            <a:r>
              <a:rPr lang="en-US" sz="2000" dirty="0" err="1">
                <a:solidFill>
                  <a:srgbClr val="FFC000"/>
                </a:solidFill>
                <a:latin typeface="Bahnschrift SemiBold" panose="020B0502040204020203" pitchFamily="34" charset="0"/>
              </a:rPr>
              <a:t>Rutuja</a:t>
            </a:r>
            <a:r>
              <a:rPr lang="en-US" sz="2000" dirty="0">
                <a:solidFill>
                  <a:srgbClr val="FFC000"/>
                </a:solidFill>
                <a:latin typeface="Bahnschrift SemiBold" panose="020B0502040204020203" pitchFamily="34" charset="0"/>
              </a:rPr>
              <a:t>[152]</a:t>
            </a:r>
            <a:br>
              <a:rPr lang="en-US" sz="2000" dirty="0">
                <a:solidFill>
                  <a:srgbClr val="FFC000"/>
                </a:solidFill>
                <a:latin typeface="Bahnschrift SemiBold" panose="020B0502040204020203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Bahnschrift SemiBold" panose="020B0502040204020203" pitchFamily="34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Bahnschrift SemiBold" panose="020B0502040204020203" pitchFamily="34" charset="0"/>
              </a:rPr>
            </a:br>
            <a:b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solidFill>
                <a:srgbClr val="00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EB884-9007-2514-5616-F37A5D734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561" y="0"/>
            <a:ext cx="1274174" cy="127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2">
                    <a:lumMod val="50000"/>
                  </a:schemeClr>
                </a:solidFill>
                <a:latin typeface="Baskerville Old Face" panose="02020602080505020303" pitchFamily="18" charset="0"/>
              </a:rP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b="1" dirty="0">
              <a:solidFill>
                <a:schemeClr val="accent3">
                  <a:lumMod val="20000"/>
                  <a:lumOff val="80000"/>
                </a:schemeClr>
              </a:solidFill>
              <a:latin typeface="Bahnschrift SemiBold Condensed" panose="020B050204020402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D5D7D-383C-9D22-0062-298743C064B3}"/>
              </a:ext>
            </a:extLst>
          </p:cNvPr>
          <p:cNvSpPr txBox="1"/>
          <p:nvPr/>
        </p:nvSpPr>
        <p:spPr>
          <a:xfrm>
            <a:off x="2266122" y="1602939"/>
            <a:ext cx="4585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Introduction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Features of </a:t>
            </a:r>
            <a:r>
              <a:rPr lang="en-US" dirty="0" err="1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prostgresql</a:t>
            </a:r>
            <a:endParaRPr lang="en-US" dirty="0">
              <a:solidFill>
                <a:srgbClr val="00FFFF"/>
              </a:solidFill>
              <a:latin typeface="Cambria" pitchFamily="18" charset="0"/>
              <a:ea typeface="Cambria" pitchFamily="18" charset="0"/>
            </a:endParaRP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Advantages and Disadvantages</a:t>
            </a:r>
          </a:p>
          <a:p>
            <a:pPr marL="457200" indent="-457200">
              <a:buAutoNum type="arabicPeriod"/>
            </a:pPr>
            <a:r>
              <a:rPr lang="en-US" dirty="0" err="1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Differece</a:t>
            </a: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dirty="0" err="1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ProstgreSQL</a:t>
            </a: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 &amp; MySQL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Installation Process</a:t>
            </a:r>
          </a:p>
          <a:p>
            <a:pPr marL="457200" indent="-457200">
              <a:buAutoNum type="arabicPeriod"/>
            </a:pPr>
            <a:r>
              <a:rPr lang="en-US" dirty="0" err="1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Conection</a:t>
            </a: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 of </a:t>
            </a:r>
            <a:r>
              <a:rPr lang="en-US" dirty="0" err="1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ProstgreSQL</a:t>
            </a:r>
            <a:endParaRPr lang="en-US" dirty="0">
              <a:solidFill>
                <a:srgbClr val="00FFFF"/>
              </a:solidFill>
              <a:latin typeface="Cambria" pitchFamily="18" charset="0"/>
              <a:ea typeface="Cambria" pitchFamily="18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Basic operation on </a:t>
            </a:r>
            <a:r>
              <a:rPr lang="en-US" dirty="0" err="1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PgAdmin</a:t>
            </a: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 4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Basic operation on </a:t>
            </a:r>
            <a:r>
              <a:rPr lang="en-US" dirty="0" err="1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Cmd</a:t>
            </a:r>
            <a:endParaRPr lang="en-US" dirty="0">
              <a:solidFill>
                <a:srgbClr val="00FFFF"/>
              </a:solidFill>
              <a:latin typeface="Cambria" pitchFamily="18" charset="0"/>
              <a:ea typeface="Cambria" pitchFamily="18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Conclusion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0FFFF"/>
                </a:solidFill>
                <a:latin typeface="Cambria" pitchFamily="18" charset="0"/>
                <a:ea typeface="Cambria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b="1" dirty="0">
              <a:solidFill>
                <a:schemeClr val="tx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Postgresql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a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powerfull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extremely stable and object relational database system.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Postgresql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one of the popular and trustworthy database system. that is used by  organization specially startup for their backend development.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Simplest things about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postgresql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are:</a:t>
            </a:r>
          </a:p>
          <a:p>
            <a:pPr marL="457200" indent="-457200">
              <a:buFont typeface="+mj-lt"/>
              <a:buAutoNum type="romanUcPeriod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is open source</a:t>
            </a:r>
          </a:p>
          <a:p>
            <a:pPr marL="457200" indent="-457200">
              <a:buFont typeface="+mj-lt"/>
              <a:buAutoNum type="romanUcPeriod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Robust</a:t>
            </a:r>
          </a:p>
          <a:p>
            <a:pPr marL="457200" indent="-457200">
              <a:buFont typeface="+mj-lt"/>
              <a:buAutoNum type="romanUcPeriod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 performance</a:t>
            </a:r>
          </a:p>
          <a:p>
            <a:pPr marL="457200" indent="-457200">
              <a:buFont typeface="+mj-lt"/>
              <a:buAutoNum type="romanUcPeriod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Community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Postgresql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uses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as its main query language.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level of developers beginners to professional uses a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postgresql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manage their info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regardles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of the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diamensions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of the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works clearly on each huge and tiny data 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Baskerville Old Face" panose="02020602080505020303" pitchFamily="18" charset="0"/>
              </a:rPr>
              <a:t>Features of </a:t>
            </a:r>
            <a:r>
              <a:rPr lang="en-US" b="1" dirty="0" err="1">
                <a:solidFill>
                  <a:schemeClr val="tx2">
                    <a:lumMod val="50000"/>
                  </a:schemeClr>
                </a:solidFill>
                <a:latin typeface="Baskerville Old Face" panose="02020602080505020303" pitchFamily="18" charset="0"/>
              </a:rPr>
              <a:t>ProstgresSQL</a:t>
            </a:r>
            <a:endParaRPr lang="en-US" b="1" dirty="0">
              <a:solidFill>
                <a:schemeClr val="tx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IN" sz="1500" b="1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5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Free to download:</a:t>
            </a:r>
            <a:r>
              <a:rPr lang="en-IN" sz="15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It is open-source, and we can easily download it from the official website of PostgreSQL.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5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Compatible on several operation systems:</a:t>
            </a:r>
            <a:r>
              <a:rPr lang="en-IN" sz="15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PostgreSQL runs on all major operating systems such as </a:t>
            </a:r>
            <a:r>
              <a:rPr lang="en-IN" sz="1500" b="0" i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Microsoft Windows, Linux, MacOS X, UNIX (AIX, BSD, HP-UX, SGI IRIX, Solaris, and Tru64),</a:t>
            </a:r>
            <a:r>
              <a:rPr lang="en-IN" sz="15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5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Compatible with various programming languages:</a:t>
            </a:r>
            <a:r>
              <a:rPr lang="en-IN" sz="15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It supports multiple programming interfaces such </a:t>
            </a:r>
            <a:r>
              <a:rPr lang="en-IN" sz="1500" b="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as</a:t>
            </a:r>
            <a:r>
              <a:rPr lang="en-IN" sz="1500" b="0" i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IN" sz="1500" b="0" i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/C++, JAVA, Python, Perl, Ruby, </a:t>
            </a:r>
            <a:r>
              <a:rPr lang="en-IN" sz="1500" b="0" i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Tcl</a:t>
            </a:r>
            <a:r>
              <a:rPr lang="en-IN" sz="1500" b="0" i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and ODBC (Open Database Connectivity)</a:t>
            </a:r>
            <a:r>
              <a:rPr lang="en-IN" sz="15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53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Baskerville Old Face" panose="02020602080505020303" pitchFamily="18" charset="0"/>
              </a:rPr>
              <a:t>Advantages &amp; Disadvantages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4900" b="1" dirty="0">
              <a:solidFill>
                <a:schemeClr val="bg2">
                  <a:lumMod val="10000"/>
                </a:schemeClr>
              </a:solidFill>
              <a:latin typeface="Cambria" pitchFamily="18" charset="0"/>
              <a:ea typeface="Cambria" pitchFamily="18" charset="0"/>
              <a:cs typeface="Calibri" panose="020F0502020204030204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4900" b="1" dirty="0">
                <a:solidFill>
                  <a:schemeClr val="bg2">
                    <a:lumMod val="10000"/>
                  </a:schemeClr>
                </a:solidFill>
                <a:latin typeface="Cambria" pitchFamily="18" charset="0"/>
                <a:ea typeface="Cambria" pitchFamily="18" charset="0"/>
                <a:cs typeface="Calibri" panose="020F0502020204030204" pitchFamily="34" charset="0"/>
              </a:rPr>
              <a:t>Advantage</a:t>
            </a: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ACID supported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Community support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is open source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Cables of handling high-performance jobs.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Security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Scalable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Fast data processing</a:t>
            </a:r>
          </a:p>
          <a:p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9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Disadvantages</a:t>
            </a:r>
          </a:p>
          <a:p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PostgreSQL isolate each client, implying that a separate service Thread is started for each client.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PostgreSQL installation is more difficult than that of other DBMS programmers.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Less knowledge of </a:t>
            </a:r>
            <a:r>
              <a:rPr lang="en-US" sz="49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PostgreSQLs</a:t>
            </a:r>
            <a:r>
              <a:rPr lang="en-US" sz="4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capabilities.</a:t>
            </a: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6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7E7B6-7034-1529-0921-641C11EE5D31}"/>
              </a:ext>
            </a:extLst>
          </p:cNvPr>
          <p:cNvSpPr txBox="1"/>
          <p:nvPr/>
        </p:nvSpPr>
        <p:spPr>
          <a:xfrm>
            <a:off x="284922" y="1162878"/>
            <a:ext cx="65664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latin typeface="Cambria" pitchFamily="18" charset="0"/>
              <a:ea typeface="Cambria" pitchFamily="18" charset="0"/>
            </a:endParaRPr>
          </a:p>
          <a:p>
            <a:endParaRPr lang="en-US" sz="1600" b="1" dirty="0">
              <a:latin typeface="Cambria" pitchFamily="18" charset="0"/>
              <a:ea typeface="Cambria" pitchFamily="18" charset="0"/>
            </a:endParaRPr>
          </a:p>
          <a:p>
            <a:endParaRPr lang="en-US" sz="1600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73BE663-EAD5-20B7-D68F-E6E66E5A9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7" y="601792"/>
            <a:ext cx="7268818" cy="725349"/>
          </a:xfrm>
        </p:spPr>
        <p:txBody>
          <a:bodyPr>
            <a:noAutofit/>
          </a:bodyPr>
          <a:lstStyle/>
          <a:p>
            <a:r>
              <a:rPr lang="en-US" b="1" dirty="0" err="1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Differece</a:t>
            </a:r>
            <a:r>
              <a:rPr lang="en-US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ProstgreSQL</a:t>
            </a:r>
            <a:r>
              <a:rPr lang="en-US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&amp; MySQL</a:t>
            </a:r>
            <a:br>
              <a:rPr lang="en-US" sz="32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</a:br>
            <a:br>
              <a:rPr lang="en-US" sz="32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</a:br>
            <a:endParaRPr lang="en-US" sz="3200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0977364-5C31-9925-239A-CDDB68975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957117"/>
              </p:ext>
            </p:extLst>
          </p:nvPr>
        </p:nvGraphicFramePr>
        <p:xfrm>
          <a:off x="207222" y="1086677"/>
          <a:ext cx="6884504" cy="361121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31284">
                  <a:extLst>
                    <a:ext uri="{9D8B030D-6E8A-4147-A177-3AD203B41FA5}">
                      <a16:colId xmlns:a16="http://schemas.microsoft.com/office/drawing/2014/main" val="3613728561"/>
                    </a:ext>
                  </a:extLst>
                </a:gridCol>
                <a:gridCol w="2990382">
                  <a:extLst>
                    <a:ext uri="{9D8B030D-6E8A-4147-A177-3AD203B41FA5}">
                      <a16:colId xmlns:a16="http://schemas.microsoft.com/office/drawing/2014/main" val="824653972"/>
                    </a:ext>
                  </a:extLst>
                </a:gridCol>
                <a:gridCol w="3262838">
                  <a:extLst>
                    <a:ext uri="{9D8B030D-6E8A-4147-A177-3AD203B41FA5}">
                      <a16:colId xmlns:a16="http://schemas.microsoft.com/office/drawing/2014/main" val="311801673"/>
                    </a:ext>
                  </a:extLst>
                </a:gridCol>
              </a:tblGrid>
              <a:tr h="366362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    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      </a:t>
                      </a:r>
                      <a:r>
                        <a:rPr lang="en-IN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ProstgreSQL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260893"/>
                  </a:ext>
                </a:extLst>
              </a:tr>
              <a:tr h="345817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 is most</a:t>
                      </a:r>
                      <a:r>
                        <a:rPr lang="en-IN" sz="1200" dirty="0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popular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DataBase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 is most </a:t>
                      </a:r>
                      <a:r>
                        <a:rPr lang="en-IN" sz="1200" dirty="0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Advanced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DataBase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155389"/>
                  </a:ext>
                </a:extLst>
              </a:tr>
              <a:tr h="345817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 is a </a:t>
                      </a:r>
                      <a:r>
                        <a:rPr lang="en-IN" sz="1200" dirty="0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relational-based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 is a </a:t>
                      </a:r>
                      <a:r>
                        <a:rPr lang="en-IN" sz="1200" dirty="0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object-based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DBMS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26534"/>
                  </a:ext>
                </a:extLst>
              </a:tr>
              <a:tr h="45795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Implimention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language is </a:t>
                      </a:r>
                      <a:r>
                        <a:rPr lang="en-IN" sz="1200" dirty="0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c/</a:t>
                      </a:r>
                      <a:r>
                        <a:rPr lang="en-IN" sz="1200" dirty="0" err="1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c++</a:t>
                      </a:r>
                      <a:r>
                        <a:rPr lang="en-IN" sz="1200" dirty="0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Implimention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language is </a:t>
                      </a:r>
                      <a:r>
                        <a:rPr lang="en-IN" sz="1200" dirty="0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 </a:t>
                      </a:r>
                    </a:p>
                    <a:p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187906"/>
                  </a:ext>
                </a:extLst>
              </a:tr>
              <a:tr h="45795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 </a:t>
                      </a:r>
                      <a:r>
                        <a:rPr lang="en-IN" sz="1200" dirty="0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supports the CASCADE 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IN" sz="1200" dirty="0"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CASCADE option is supported</a:t>
                      </a:r>
                    </a:p>
                    <a:p>
                      <a:endParaRPr lang="en-IN" sz="1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888384"/>
                  </a:ext>
                </a:extLst>
              </a:tr>
              <a:tr h="534879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SQL only supports 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Standard data types</a:t>
                      </a:r>
                      <a:endParaRPr lang="en-IN" sz="1200" b="0" dirty="0">
                        <a:highlight>
                          <a:srgbClr val="FFFF00"/>
                        </a:highligh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It supports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Advanced data types 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such as arrays and user-defined types.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424350"/>
                  </a:ext>
                </a:extLst>
              </a:tr>
              <a:tr h="39158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reliable, simple, and faster.</a:t>
                      </a:r>
                      <a:endParaRPr lang="en-IN" sz="1200" dirty="0">
                        <a:highlight>
                          <a:srgbClr val="FFFF00"/>
                        </a:highligh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slower and more complex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534907"/>
                  </a:ext>
                </a:extLst>
              </a:tr>
              <a:tr h="36503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Troubleshooting MySQL is 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easy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difficult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troubleshoot PostgreSQL.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930428"/>
                  </a:ext>
                </a:extLst>
              </a:tr>
              <a:tr h="345817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SQL provides 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limited MVCC support</a:t>
                      </a:r>
                      <a:endParaRPr lang="en-IN" sz="1400" b="0" dirty="0">
                        <a:highlight>
                          <a:srgbClr val="FFFF00"/>
                        </a:highligh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Full MVCC 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support.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702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798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7818" y="197604"/>
            <a:ext cx="6336730" cy="72534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Installation Process</a:t>
            </a:r>
            <a:br>
              <a:rPr lang="en-US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</a:br>
            <a:endParaRPr lang="en-US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24D058-9637-0A22-7412-B8BE02343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2" y="938416"/>
            <a:ext cx="6851373" cy="37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743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59" y="177725"/>
            <a:ext cx="7312265" cy="725349"/>
          </a:xfrm>
        </p:spPr>
        <p:txBody>
          <a:bodyPr>
            <a:noAutofit/>
          </a:bodyPr>
          <a:lstStyle/>
          <a:p>
            <a:r>
              <a:rPr lang="en-US" sz="18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Download PostgreSQL Installer</a:t>
            </a:r>
            <a:br>
              <a:rPr lang="en-US" b="1" i="0" dirty="0">
                <a:solidFill>
                  <a:srgbClr val="404040"/>
                </a:solidFill>
                <a:effectLst/>
                <a:latin typeface="poppins" panose="00000500000000000000" pitchFamily="2" charset="0"/>
              </a:rPr>
            </a:b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Before installing PostgreSQL, you need to </a:t>
            </a:r>
            <a:r>
              <a:rPr lang="en-US" sz="1400" b="0" i="0" u="none" strike="noStrike" dirty="0">
                <a:solidFill>
                  <a:srgbClr val="0074DB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download the installation file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from the EDB website.</a:t>
            </a: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B5E2D9-C4AC-4074-D4A8-9CBBE8EF7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19" y="775254"/>
            <a:ext cx="6804989" cy="36377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E177B8-705E-80C8-0CB0-55E8185D839E}"/>
              </a:ext>
            </a:extLst>
          </p:cNvPr>
          <p:cNvSpPr txBox="1"/>
          <p:nvPr/>
        </p:nvSpPr>
        <p:spPr>
          <a:xfrm>
            <a:off x="238538" y="4471458"/>
            <a:ext cx="7083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Find the </a:t>
            </a:r>
            <a:r>
              <a:rPr lang="en-US" sz="1600" b="0" i="1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Windows x86-64</a:t>
            </a:r>
            <a:r>
              <a:rPr lang="en-US" sz="16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category for the latest version of PostgreSQL and click the </a:t>
            </a:r>
            <a:r>
              <a:rPr lang="en-US" sz="16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Download</a:t>
            </a:r>
            <a:r>
              <a:rPr lang="en-US" sz="16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button.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96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009" y="271669"/>
            <a:ext cx="6761539" cy="775250"/>
          </a:xfrm>
        </p:spPr>
        <p:txBody>
          <a:bodyPr>
            <a:noAutofit/>
          </a:bodyPr>
          <a:lstStyle/>
          <a:p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Install PostgreSQL on Windows</a:t>
            </a:r>
            <a:b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2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Follow the steps below to install PostgreSQL on Windows:</a:t>
            </a:r>
            <a:br>
              <a:rPr lang="en-US" sz="12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2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 Open the PostgreSQL install file to start the installation wizard. Click </a:t>
            </a:r>
            <a:r>
              <a:rPr lang="en-US" sz="12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continue.</a:t>
            </a:r>
            <a:br>
              <a:rPr lang="en-US" sz="12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2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Choose an install location for PostgreSQL and click </a:t>
            </a:r>
            <a:r>
              <a:rPr lang="en-US" sz="12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proceed.</a:t>
            </a:r>
            <a:br>
              <a:rPr lang="en-US" sz="12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12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BC7E3F-BDF4-B0C1-D45B-0B82E00A1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81" y="1037813"/>
            <a:ext cx="6480314" cy="383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17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" y="396384"/>
            <a:ext cx="7200899" cy="725349"/>
          </a:xfrm>
        </p:spPr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3. Select which software components you want to install:</a:t>
            </a: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PostgreSQL Server: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Installs the PostgreSQL </a:t>
            </a:r>
            <a:r>
              <a:rPr lang="en-US" sz="1400" b="0" i="0" u="none" strike="noStrike" dirty="0">
                <a:solidFill>
                  <a:srgbClr val="0074DB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database server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400" b="1" i="0" dirty="0" err="1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pgAdmin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4: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Provides a graphical interface for managing PostgreSQL databases.</a:t>
            </a: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Stack Builder: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Allows you to download and install additional tools to use with PostgreSQL.</a:t>
            </a: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Command Line Tools: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Installs the command line tool and client libraries. Required when installing PostgreSQL Server or </a:t>
            </a:r>
            <a:r>
              <a:rPr lang="en-US" sz="1400" b="0" i="0" dirty="0" err="1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pgAdmin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4.</a:t>
            </a: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993EBF-6812-205B-54F7-54A05A09E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2" y="1322738"/>
            <a:ext cx="6957391" cy="3481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675425-31DD-A88B-7D81-5CF4A3E81A2E}"/>
              </a:ext>
            </a:extLst>
          </p:cNvPr>
          <p:cNvSpPr txBox="1"/>
          <p:nvPr/>
        </p:nvSpPr>
        <p:spPr>
          <a:xfrm>
            <a:off x="-1" y="4531089"/>
            <a:ext cx="72754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i="0" dirty="0">
              <a:solidFill>
                <a:srgbClr val="40404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Once you check the boxes next to the components you want to install, click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continue.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54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6878" y="-166831"/>
            <a:ext cx="6336730" cy="725349"/>
          </a:xfrm>
        </p:spPr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4. Choose a database directory to store data and click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continue.</a:t>
            </a: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4E773-1AAD-E83F-119C-5C4B7385C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7" y="781879"/>
            <a:ext cx="6261651" cy="30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62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66259" y="-153578"/>
            <a:ext cx="7388086" cy="725349"/>
          </a:xfrm>
        </p:spPr>
        <p:txBody>
          <a:bodyPr>
            <a:noAutofit/>
          </a:bodyPr>
          <a:lstStyle/>
          <a:p>
            <a:r>
              <a:rPr lang="en-US" sz="16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5. Enter and retype the password for the database superuser. Click </a:t>
            </a:r>
            <a:r>
              <a:rPr lang="en-US" sz="16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r>
              <a:rPr lang="en-US" sz="16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proceed.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2989E4-6F4A-19E2-325A-623229A12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39" y="514350"/>
            <a:ext cx="622852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96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" y="-140326"/>
            <a:ext cx="7242313" cy="736674"/>
          </a:xfrm>
        </p:spPr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6. Enter the port number for the PostgreSQL server to listen on and click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continue.</a:t>
            </a: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9EC20C-D662-0B96-D8D2-3A2D9DE30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1" y="514350"/>
            <a:ext cx="648031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51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53008" y="-13252"/>
            <a:ext cx="7421216" cy="737423"/>
          </a:xfrm>
        </p:spPr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7. Choose the locale for the database to use. Selecting the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[Default locale]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option uses the locale settings for your operating system. Once you have chosen a locale, click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continue.</a:t>
            </a: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242229-C8ED-F468-4579-DB4DA29FC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8" y="693252"/>
            <a:ext cx="647069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9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59634" y="-106012"/>
            <a:ext cx="7275443" cy="717540"/>
          </a:xfrm>
        </p:spPr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8. The last step offers a summary of the installation settings. Click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Back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if you want to change any of the settings you made, or click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proceed.</a:t>
            </a: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D2D1CE-3216-FA18-17D6-27E4F3172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92" y="514350"/>
            <a:ext cx="6550212" cy="423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22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66260"/>
            <a:ext cx="6814548" cy="677784"/>
          </a:xfrm>
        </p:spPr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9. The setup wizard informs you it is ready to start the installation process. Click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begin installing PostgreSQL.</a:t>
            </a: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252A7A-72EE-CAA7-A412-DD569508F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14" y="620366"/>
            <a:ext cx="6175512" cy="434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14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3265" y="-1179"/>
            <a:ext cx="6336730" cy="725349"/>
          </a:xfrm>
        </p:spPr>
        <p:txBody>
          <a:bodyPr>
            <a:no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Connect to the PostgreSQL Database Using 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pgAdmin</a:t>
            </a:r>
            <a:br>
              <a:rPr lang="en-US" sz="14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 Open the </a:t>
            </a:r>
            <a:r>
              <a:rPr lang="en-US" sz="1400" b="1" i="0" dirty="0" err="1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pgAdmin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4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tool from the </a:t>
            </a:r>
            <a:r>
              <a:rPr lang="en-US" sz="1400" b="0" i="1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PostgreSQL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folder in the </a:t>
            </a:r>
            <a:r>
              <a:rPr lang="en-US" sz="1400" b="0" i="1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Start 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menu.</a:t>
            </a: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Right-click the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Servers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icon on the left-hand side. Select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 &gt; Server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 set up a new database server.</a:t>
            </a: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0A5C81-3726-35B1-5A74-D40EA4F80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7" y="904875"/>
            <a:ext cx="6851374" cy="373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83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383" y="31950"/>
            <a:ext cx="7222434" cy="725349"/>
          </a:xfrm>
        </p:spPr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3. In the </a:t>
            </a:r>
            <a:r>
              <a:rPr lang="en-US" sz="1400" b="0" i="1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General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tab, enter the name for the new database. In this example, we are using </a:t>
            </a:r>
            <a:r>
              <a:rPr lang="en-US" sz="1400" b="0" i="1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PostgreSQL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as the database name.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DEF86C-7726-377D-18DC-C0A4A4DF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3" y="974036"/>
            <a:ext cx="6601254" cy="338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31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009" y="59635"/>
            <a:ext cx="6761539" cy="768625"/>
          </a:xfrm>
        </p:spPr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4. In the </a:t>
            </a:r>
            <a:r>
              <a:rPr lang="en-US" sz="1400" b="0" i="1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Connection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tab, enter the hostname (default is </a:t>
            </a:r>
            <a:r>
              <a:rPr lang="en-US" sz="1400" b="0" i="1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localhost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and password selected during the setup process. Click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Save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 </a:t>
            </a:r>
            <a:r>
              <a:rPr lang="en-US" sz="1400" b="0" i="0" u="none" strike="noStrike" dirty="0">
                <a:solidFill>
                  <a:srgbClr val="0074DB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create the new database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0D6C0D-FB22-E248-92E4-B9B823580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05" y="530086"/>
            <a:ext cx="6583742" cy="440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39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5. Expand the server display by clicking on the </a:t>
            </a:r>
            <a:r>
              <a:rPr lang="en-US" sz="1400" b="1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Servers &gt; PostgreSQL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icons on the left-hand side. Select the default </a:t>
            </a:r>
            <a:r>
              <a:rPr lang="en-US" sz="1400" b="1" i="0" dirty="0" err="1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postgres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database.</a:t>
            </a:r>
            <a:b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b="0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</a:br>
            <a:endParaRPr lang="en-US" b="1" dirty="0">
              <a:solidFill>
                <a:schemeClr val="tx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149ACB-A41D-54A0-4A0E-D5D71885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1" y="563216"/>
            <a:ext cx="6725478" cy="438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16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113820"/>
            <a:ext cx="7321826" cy="725349"/>
          </a:xfrm>
        </p:spPr>
        <p:txBody>
          <a:bodyPr>
            <a:noAutofit/>
          </a:bodyPr>
          <a:lstStyle/>
          <a:p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If the database is working properly, the current version of the database will appear in the </a:t>
            </a:r>
            <a:r>
              <a:rPr lang="en-US" sz="1400" b="0" i="1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Output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section.</a:t>
            </a:r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7323ED-FA9D-820A-9A2C-7FF2865A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34" y="549965"/>
            <a:ext cx="6573079" cy="436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63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113820"/>
            <a:ext cx="7321826" cy="725349"/>
          </a:xfrm>
        </p:spPr>
        <p:txBody>
          <a:bodyPr>
            <a:noAutofit/>
          </a:bodyPr>
          <a:lstStyle/>
          <a:p>
            <a:endParaRPr lang="en-US" sz="1400" b="1" dirty="0">
              <a:solidFill>
                <a:schemeClr val="tx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Limit and offset options</a:t>
            </a:r>
          </a:p>
          <a:p>
            <a:endParaRPr lang="en-US" sz="16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endParaRPr lang="en-US" sz="16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endParaRPr lang="en-US" sz="16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Limit and offset are used when you want to </a:t>
            </a:r>
            <a:r>
              <a:rPr lang="en-US" sz="1600" dirty="0" err="1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retrived</a:t>
            </a: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only few records from your result of queries 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Limit will </a:t>
            </a:r>
            <a:r>
              <a:rPr lang="en-US" sz="1600" dirty="0" err="1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retrive</a:t>
            </a: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only the number of records specified after the limit keywords, </a:t>
            </a:r>
            <a:r>
              <a:rPr lang="en-US" sz="1600" dirty="0" err="1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unles</a:t>
            </a: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the query itself returns fewer records than the numbers specified by limit.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OFFSET is used to skip the number of records from the result</a:t>
            </a:r>
          </a:p>
          <a:p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4232675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-6618"/>
            <a:ext cx="6358060" cy="1152941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Pattern matching function</a:t>
            </a:r>
          </a:p>
          <a:p>
            <a:pPr marL="109728" indent="0">
              <a:buNone/>
            </a:pPr>
            <a:endParaRPr lang="en-US" sz="16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pPr marL="395478" indent="-28575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Like</a:t>
            </a:r>
          </a:p>
          <a:p>
            <a:pPr marL="109728" indent="0">
              <a:buNone/>
            </a:pPr>
            <a:endParaRPr lang="en-US" sz="16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 The like expression returns true if the string matches the supplied pattern.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As expected ,the NOT LIKE expression return false if LIKE returns true and vice vera.</a:t>
            </a:r>
          </a:p>
          <a:p>
            <a:r>
              <a:rPr lang="en-US" sz="1600" b="1" u="sng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Example</a:t>
            </a: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:</a:t>
            </a:r>
          </a:p>
          <a:p>
            <a:pPr marL="109728" indent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      Select * from emp where name like ’</a:t>
            </a:r>
            <a:r>
              <a:rPr lang="en-US" sz="1600" dirty="0" err="1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abc</a:t>
            </a: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’;</a:t>
            </a:r>
          </a:p>
          <a:p>
            <a:pPr marL="109728" indent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      Select * from emp where name  not like ’</a:t>
            </a:r>
            <a:r>
              <a:rPr lang="en-US" sz="1600" dirty="0" err="1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abc</a:t>
            </a: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’;</a:t>
            </a:r>
          </a:p>
          <a:p>
            <a:pPr marL="109728" indent="0">
              <a:buNone/>
            </a:pP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Similar</a:t>
            </a: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to</a:t>
            </a:r>
          </a:p>
          <a:p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the similar to operator succeeds only if its pattern matches the entire string.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This is unlike common regular expression </a:t>
            </a:r>
            <a:r>
              <a:rPr lang="en-US" sz="1600" dirty="0" err="1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behaviour</a:t>
            </a:r>
            <a:r>
              <a:rPr lang="en-US" sz="16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 where the pattern can match any of the string.</a:t>
            </a:r>
          </a:p>
          <a:p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464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337AE-C2A1-99A7-CA33-E601EFD81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383" y="498939"/>
            <a:ext cx="7136295" cy="215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30F8B-B53A-B31F-4B52-2E2F6984DF75}"/>
              </a:ext>
            </a:extLst>
          </p:cNvPr>
          <p:cNvSpPr txBox="1"/>
          <p:nvPr/>
        </p:nvSpPr>
        <p:spPr>
          <a:xfrm>
            <a:off x="160681" y="3227767"/>
            <a:ext cx="4601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0" i="0" dirty="0">
              <a:solidFill>
                <a:srgbClr val="0A0A23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8A606D4-6161-6B9B-BB23-B3184175F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5F51CE-F14B-18FE-3885-8719E6EB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60" y="1276222"/>
            <a:ext cx="6540835" cy="29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57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C09991-4D12-FA57-863B-C3B1CB79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A1764D-7F87-E6E7-9730-FB420F3B1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7" y="586568"/>
            <a:ext cx="6824870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06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69" y="-816187"/>
            <a:ext cx="6336730" cy="3506377"/>
          </a:xfrm>
        </p:spPr>
        <p:txBody>
          <a:bodyPr>
            <a:noAutofit/>
          </a:bodyPr>
          <a:lstStyle/>
          <a:p>
            <a:r>
              <a:rPr lang="en-US" sz="1400" i="0" dirty="0">
                <a:solidFill>
                  <a:srgbClr val="24292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Warning: SQL commands end with a semicolon!</a:t>
            </a:r>
            <a:br>
              <a:rPr lang="en-US" b="1" i="0" dirty="0">
                <a:solidFill>
                  <a:srgbClr val="24292E"/>
                </a:solidFill>
                <a:effectLst/>
                <a:latin typeface="-apple-system"/>
              </a:rPr>
            </a:br>
            <a:endParaRPr lang="en-US" b="1" dirty="0">
              <a:solidFill>
                <a:schemeClr val="tx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D27E09-B5E5-4001-CF9C-AEB1BAFE6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3787"/>
            <a:ext cx="7911076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psql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 vs SQL 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psql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 has two different kinds of commands. Those starting with a backslash are for 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psql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 itself, as illustrated by the use of 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\q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 to quit.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Those starting with valid SQL are of course interactive SQL used to create and modify PostgreSQL databases.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4994C6D-106C-B113-70D6-8DF9A7A22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543"/>
            <a:ext cx="9144000" cy="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For example,suppose you want to remove a table named 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sample_property_5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. You’d enter this command: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postgres=# DROP TABLE "sample_property_5";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0A71226-655C-88E4-4DF8-E6415D7B9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03659"/>
            <a:ext cx="6755642" cy="1061829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It’s easy to forget. If you do forget the semicolon, you’ll see this perplexing prompt. Note that a 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 has been inserted before the username portion of the prompt, and another prompt appears below it: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[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postgres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=# DROP TABLE "sample_property_5"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postgres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=# 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7F83B356-1BC9-1919-0577-E86172F8A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4486"/>
            <a:ext cx="40076" cy="21544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34083F-E828-75FB-FB75-BD04326D5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5893" t="17874" r="14929" b="27272"/>
          <a:stretch/>
        </p:blipFill>
        <p:spPr>
          <a:xfrm>
            <a:off x="-1415143" y="2111835"/>
            <a:ext cx="7212520" cy="266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25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43DE52-20F1-2759-BB7E-12A2A79B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" y="297180"/>
            <a:ext cx="6638925" cy="470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89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4863C3-1025-376B-F079-68668F14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" y="198120"/>
            <a:ext cx="6896099" cy="46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98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0444" y="1080056"/>
            <a:ext cx="6358060" cy="11529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49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1CB30-F775-FD93-CF70-DEA558CEC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1" y="228600"/>
            <a:ext cx="692658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87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67812" y="-130703"/>
            <a:ext cx="8067369" cy="15928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  <a:t>Conclusion</a:t>
            </a:r>
            <a:br>
              <a:rPr lang="en-US" b="1" dirty="0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b="1" dirty="0">
              <a:solidFill>
                <a:schemeClr val="accent4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2852C8A-36F2-9E0E-EBB4-70135BA12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41" y="742119"/>
            <a:ext cx="8082115" cy="1592826"/>
          </a:xfrm>
        </p:spPr>
        <p:txBody>
          <a:bodyPr>
            <a:noAutofit/>
          </a:bodyPr>
          <a:lstStyle/>
          <a:p>
            <a:r>
              <a:rPr lang="en-IN" sz="11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topic we are able to learnt about </a:t>
            </a:r>
            <a:r>
              <a:rPr lang="en-IN" sz="11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ProsgreSQL</a:t>
            </a:r>
            <a:r>
              <a:rPr lang="en-IN" sz="11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1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ProsgreSQL</a:t>
            </a:r>
            <a:r>
              <a:rPr lang="en-IN" sz="11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features. Advantages , Disadvantages ,</a:t>
            </a:r>
            <a:r>
              <a:rPr lang="en-IN" sz="11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Dofference</a:t>
            </a:r>
            <a:r>
              <a:rPr lang="en-IN" sz="11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MySQL And </a:t>
            </a:r>
            <a:r>
              <a:rPr lang="en-IN" sz="11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ProsgeSQL</a:t>
            </a:r>
            <a:r>
              <a:rPr lang="en-IN" sz="11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1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 of  </a:t>
            </a:r>
            <a:r>
              <a:rPr lang="en-IN" sz="11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ProsgreSQL</a:t>
            </a:r>
            <a:r>
              <a:rPr lang="en-IN" sz="11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,curd operations like create, insert, update, remove, etc. </a:t>
            </a:r>
          </a:p>
          <a:p>
            <a:endParaRPr lang="en-IN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7365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67812" y="-355990"/>
            <a:ext cx="8067369" cy="15928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</a:rPr>
              <a:t>Reference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C379F18-88B1-6C25-1F74-EBFE32986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41" y="1080050"/>
            <a:ext cx="8082115" cy="638670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>
                <a:latin typeface="Bohnschrift"/>
              </a:rPr>
              <a:t>https://infyspringboard.onwingspan.com/web/en/app/toc/lex_auth_01329460910229913614313_shared/ov</a:t>
            </a: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  <a:p>
            <a:endParaRPr lang="en-IN" b="1" dirty="0">
              <a:latin typeface="Bo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16D5E-48C1-1C18-337F-8A0C114BE439}"/>
              </a:ext>
            </a:extLst>
          </p:cNvPr>
          <p:cNvSpPr txBox="1"/>
          <p:nvPr/>
        </p:nvSpPr>
        <p:spPr>
          <a:xfrm>
            <a:off x="4101548" y="224624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314ED6-DBE5-3498-5C58-74D463CA64BB}"/>
              </a:ext>
            </a:extLst>
          </p:cNvPr>
          <p:cNvSpPr txBox="1"/>
          <p:nvPr/>
        </p:nvSpPr>
        <p:spPr>
          <a:xfrm>
            <a:off x="715618" y="2672875"/>
            <a:ext cx="4803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1D3A00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5844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Office PowerPoint</Application>
  <PresentationFormat>On-screen Show (16:9)</PresentationFormat>
  <Paragraphs>166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Algerian</vt:lpstr>
      <vt:lpstr>-apple-system</vt:lpstr>
      <vt:lpstr>Arial</vt:lpstr>
      <vt:lpstr>Bahnschrift</vt:lpstr>
      <vt:lpstr>Bahnschrift SemiBold</vt:lpstr>
      <vt:lpstr>Bahnschrift SemiBold Condensed</vt:lpstr>
      <vt:lpstr>Baskerville Old Face</vt:lpstr>
      <vt:lpstr>Bohnschrift</vt:lpstr>
      <vt:lpstr>Calibri</vt:lpstr>
      <vt:lpstr>Cambria</vt:lpstr>
      <vt:lpstr>poppins</vt:lpstr>
      <vt:lpstr>roboto</vt:lpstr>
      <vt:lpstr>SFMono-Regular</vt:lpstr>
      <vt:lpstr>Times New Roman</vt:lpstr>
      <vt:lpstr>Office Theme</vt:lpstr>
      <vt:lpstr>Sanjivani collage of engineering Kopargaon Department of computer Engineering Subject: Database management system Topic :PostgreSQL Guided By: Dr.P.Saiprasad.                                     Group members :  Jangam Janhavi [147]       Mukta Puri [150]               Mali Rutuja[152]        </vt:lpstr>
      <vt:lpstr>INDEX</vt:lpstr>
      <vt:lpstr>Introduction </vt:lpstr>
      <vt:lpstr>Features of ProstgresSQL</vt:lpstr>
      <vt:lpstr>Advantages &amp; Disadvantages</vt:lpstr>
      <vt:lpstr>Differece ProstgreSQL &amp; MySQL  </vt:lpstr>
      <vt:lpstr>Installation Process </vt:lpstr>
      <vt:lpstr>Download PostgreSQL Installer Before installing PostgreSQL, you need to download the installation file from the EDB website. </vt:lpstr>
      <vt:lpstr>Install PostgreSQL on Windows Follow the steps below to install PostgreSQL on Windows: 1. Open the PostgreSQL install file to start the installation wizard. Click Next to continue. 2. Choose an install location for PostgreSQL and click Next to proceed. </vt:lpstr>
      <vt:lpstr>3. Select which software components you want to install: PostgreSQL Server: Installs the PostgreSQL database server. pgAdmin 4: Provides a graphical interface for managing PostgreSQL databases. Stack Builder: Allows you to download and install additional tools to use with PostgreSQL. Command Line Tools: Installs the command line tool and client libraries. Required when installing PostgreSQL Server or pgAdmin 4. </vt:lpstr>
      <vt:lpstr>4. Choose a database directory to store data and click Next to continue.</vt:lpstr>
      <vt:lpstr>5. Enter and retype the password for the database superuser. Click Next to proceed.</vt:lpstr>
      <vt:lpstr>6. Enter the port number for the PostgreSQL server to listen on and click Next to continue.</vt:lpstr>
      <vt:lpstr>7. Choose the locale for the database to use. Selecting the [Default locale] option uses the locale settings for your operating system. Once you have chosen a locale, click Next to continue.</vt:lpstr>
      <vt:lpstr>8. The last step offers a summary of the installation settings. Click Back if you want to change any of the settings you made, or click Next to proceed.</vt:lpstr>
      <vt:lpstr>9. The setup wizard informs you it is ready to start the installation process. Click Next to begin installing PostgreSQL.</vt:lpstr>
      <vt:lpstr>Connect to the PostgreSQL Database Using pgAdmin 1. Open the pgAdmin 4 tool from the PostgreSQL folder in the Start menu. 2. Right-click the Servers icon on the left-hand side. Select Create &gt; Server to set up a new database server.</vt:lpstr>
      <vt:lpstr>3. In the General tab, enter the name for the new database. In this example, we are using PostgreSQL as the database name.</vt:lpstr>
      <vt:lpstr>4. In the Connection tab, enter the hostname (default is localhost) and password selected during the setup process. Click Save to create the new database.  </vt:lpstr>
      <vt:lpstr>5. Expand the server display by clicking on the Servers &gt; PostgreSQL icons on the left-hand side. Select the default postgres database.  </vt:lpstr>
      <vt:lpstr>If the database is working properly, the current version of the database will appear in the Data Output section.</vt:lpstr>
      <vt:lpstr>PowerPoint Presentation</vt:lpstr>
      <vt:lpstr>PowerPoint Presentation</vt:lpstr>
      <vt:lpstr>PowerPoint Presentation</vt:lpstr>
      <vt:lpstr>PowerPoint Presentation</vt:lpstr>
      <vt:lpstr>Warning: SQL commands end with a semicolon! </vt:lpstr>
      <vt:lpstr>PowerPoint Presentation</vt:lpstr>
      <vt:lpstr>PowerPoint Presentation</vt:lpstr>
      <vt:lpstr>PowerPoint Presentation</vt:lpstr>
      <vt:lpstr>Conclusion 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2023-05-25T00:38:52Z</dcterms:modified>
</cp:coreProperties>
</file>